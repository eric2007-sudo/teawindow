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Hook: a good cup of West Lake Longjing depends on a few days of harvest window, and climate is disrupting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Evidence is public and citable: 2010 losses ~RMB 1.7bn; 2020/2022 ~5,000 mu heat damage; 2024 Hangzhou 60 high-temp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daily questions: risk today? which risk? harvest or protect? Signals are scattered; decision support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Dual-source weather (Open-Meteo history + MET Norway forecast with fallback), indicator engine, GBDT compound risk, transparent rules; LLM is optional rephrasing with rule fallback.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threshold cannot capture frost x heat x drought x stage interactions. Held-out AUC 0.998/F1 0.85 vs 0.78/0.50; explicitly weak-label, not field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prediction to decisions: scheduling + expected utility (pick/wait/protect) + value/insurance + plot-level frost susceptibility.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 demo: open the site, click In-house QA, ask a multi-part question, then show the QR share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Plot level: terrain risk map -&gt; click a spot -&gt; auto-generated plot data -&gt; printable health card; mention the multi-station sensor API.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steps: open the terrain map and pick a layer; click a spot to generate data; open the plot health card to print or ask for the next 3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Validation: 357-day spring frost MAE 1.32C vs 2.08C persistence; POD 0.709/FAR 0/CSI 0.709; 7/7 backtest. Next: frozen versions + plot sensors + field reports.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&amp; compliance: live/static forms; local uvicorn or offline single page; all data public and key-free; code MIT, data/docs CC BY 4.0.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with the tagline and the three links (live/static/repo).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E8EEF3"/>
                </a:solidFill>
                <a:latin typeface="Segoe UI"/>
              </a:rPr>
              <a:t>TeaWindow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7472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>
                <a:solidFill>
                  <a:srgbClr val="9FB4C6"/>
                </a:solidFill>
                <a:latin typeface="Segoe UI"/>
              </a:rPr>
              <a:t>AI4Climate · Climate-smart tea farming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9FB4C6"/>
                </a:solidFill>
                <a:latin typeface="Segoe UI"/>
              </a:rPr>
              <a:t>• Meijiawu, West Lake Longjing core area (30.21N, 120.10E)</a:t>
            </a:r>
          </a:p>
          <a:p>
            <a:r>
              <a:rPr sz="1500">
                <a:solidFill>
                  <a:srgbClr val="9FB4C6"/>
                </a:solidFill>
                <a:latin typeface="Segoe UI"/>
              </a:rPr>
              <a:t>• Turning late frost x heat x drought into plot-level action</a:t>
            </a:r>
          </a:p>
          <a:p>
            <a:r>
              <a:rPr sz="1500">
                <a:solidFill>
                  <a:srgbClr val="9FB4C6"/>
                </a:solidFill>
                <a:latin typeface="Segoe UI"/>
              </a:rPr>
              <a:t>• One Place - One Climate Problem - One AI Solution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E8EEF3"/>
                </a:solidFill>
                <a:latin typeface="Segoe UI"/>
              </a:rPr>
              <a:t>Problem &amp;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6035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Segoe UI"/>
              </a:rPr>
              <a:t>• ~70% of gardens grow early-budding, drought-sensitive Longjing 43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Segoe UI"/>
              </a:rPr>
              <a:t>• 2010 Zhejiang cold event: ~1.5M mu, ~RMB 1.7bn losses (~30% of West Lake gardens hit, ~10-day delay)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Segoe UI"/>
              </a:rPr>
              <a:t>• 2020/2022: ~5,000 mu heat damage; 2024 Hangzhou 60 high-temp days (record)</a:t>
            </a:r>
          </a:p>
        </p:txBody>
      </p:sp>
      <p:pic>
        <p:nvPicPr>
          <p:cNvPr id="6" name="Picture 5" descr="fig_yearl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645920"/>
            <a:ext cx="8046720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E8EEF3"/>
                </a:solidFill>
                <a:latin typeface="Segoe UI"/>
              </a:rPr>
              <a:t>Users &amp; pain point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Segoe UI"/>
              </a:rPr>
              <a:t>• Farmers, harvesting teams, cooperatives, tea enterprises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Segoe UI"/>
              </a:rPr>
              <a:t>• Three daily questions: risk today? which risk? harvest or protect?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Segoe UI"/>
              </a:rPr>
              <a:t>• Signals (weather/vegetation/terrain/soil) are scattered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Segoe UI"/>
              </a:rPr>
              <a:t>• Decision support only; respects official warnings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E8EEF3"/>
                </a:solidFill>
                <a:latin typeface="Segoe UI"/>
              </a:rPr>
              <a:t>Solution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6035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Segoe UI"/>
              </a:rPr>
              <a:t>• Input: Open-Meteo ERA5 history + MET Norway forecast (dual-source), NDVI, terrain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Segoe UI"/>
              </a:rPr>
              <a:t>• Indicator engine: GDD, frost, cold spells, heat, drought, prolonged rain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Segoe UI"/>
              </a:rPr>
              <a:t>• Model: numpy GBDT compound risk -&gt; transparent rules for suitability &amp; windows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Segoe UI"/>
              </a:rPr>
              <a:t>• Output: plain-language actions (offline/online)</a:t>
            </a:r>
          </a:p>
        </p:txBody>
      </p:sp>
      <p:pic>
        <p:nvPicPr>
          <p:cNvPr id="6" name="Picture 5" descr="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645920"/>
            <a:ext cx="1685979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E8EEF3"/>
                </a:solidFill>
                <a:latin typeface="Segoe UI"/>
              </a:rPr>
              <a:t>Why AI is necessary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6035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Segoe UI"/>
              </a:rPr>
              <a:t>• A single threshold (e.g. Tmin) misses frost x heat x drought x stage interactions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Segoe UI"/>
              </a:rPr>
              <a:t>• Held-out 2024-2025: AUC 0.998 / F1 0.85 vs single-threshold 0.78 / 0.50 (weak-label)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Segoe UI"/>
              </a:rPr>
              <a:t>• Ensemble gives uncertainty; terrain + NDVI give plot-level context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Segoe UI"/>
              </a:rPr>
              <a:t>• Weak-label evaluation is not field accuracy</a:t>
            </a:r>
          </a:p>
        </p:txBody>
      </p:sp>
      <p:pic>
        <p:nvPicPr>
          <p:cNvPr id="6" name="Picture 5" descr="fig_import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645920"/>
            <a:ext cx="7040880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E8EEF3"/>
                </a:solidFill>
                <a:latin typeface="Segoe UI"/>
              </a:rPr>
              <a:t>From prediction to decisions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6035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Segoe UI"/>
              </a:rPr>
              <a:t>• Harvest scheduling + decision-theoretic expected utility (pick/wait/protect)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Segoe UI"/>
              </a:rPr>
              <a:t>• Value loop: expected loss / premium; weather-index insurance (plot-level)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Segoe UI"/>
              </a:rPr>
              <a:t>• Plot-level frost susceptibility from terrain</a:t>
            </a:r>
          </a:p>
        </p:txBody>
      </p:sp>
      <p:pic>
        <p:nvPicPr>
          <p:cNvPr id="6" name="Picture 5" descr="fig_insur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645920"/>
            <a:ext cx="8046720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E8EEF3"/>
                </a:solidFill>
                <a:latin typeface="Segoe UI"/>
              </a:rPr>
              <a:t>Live demo + in-house QA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6035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Segoe UI"/>
              </a:rPr>
              <a:t>• Live https://teawindow.onrender.com/ ; Static https://eric2007-sudo.github.io/TeaWindow/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Segoe UI"/>
              </a:rPr>
              <a:t>• In-house QA: ONNX intent + grounded generation + provenance chain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Segoe UI"/>
              </a:rPr>
              <a:t>• Multi-part questions, JSON/table cross-turn consistency, task reference &amp; memory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Segoe UI"/>
              </a:rPr>
              <a:t>• Ops loop: 3h refresh + drift check + stale degradation + real DingTalk alerts</a:t>
            </a:r>
          </a:p>
        </p:txBody>
      </p:sp>
      <p:pic>
        <p:nvPicPr>
          <p:cNvPr id="6" name="Picture 5" descr="ch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645920"/>
            <a:ext cx="6437376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E8EEF3"/>
                </a:solidFill>
                <a:latin typeface="Segoe UI"/>
              </a:rPr>
              <a:t>Plot-level: what's new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Segoe UI"/>
              </a:rPr>
              <a:t>• 1) Terrain risk map: DEM hillshade + contours/scale/north arrow; live layers (composite/frost/heat/drought, 60s)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Segoe UI"/>
              </a:rPr>
              <a:t>• 2) Click-to-data: any spot -&gt; elevation/slope/aspect + downscaled Tmin/Tmax + risk R + advice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Segoe UI"/>
              </a:rPr>
              <a:t>• 3) Printable plot health card: today + 3-day outlook + provenance (save as PDF)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Segoe UI"/>
              </a:rPr>
              <a:t>• 4) Multi-day plot Q&amp;A: 'how to manage this plot for the next N days' -&gt; daily Tmin/Tmax/rain/R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Segoe UI"/>
              </a:rPr>
              <a:t>• 5) Multi-station sensors: register any station_id + plot coordinates; markers on the map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E8EEF3"/>
                </a:solidFill>
                <a:latin typeface="Segoe UI"/>
              </a:rPr>
              <a:t>How to use: 3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Segoe UI"/>
              </a:rPr>
              <a:t>• Step 1 Open the terrain risk map and pick a layer (composite/frost/heat/drought)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Segoe UI"/>
              </a:rPr>
              <a:t>• Step 2 Click any spot: plot data is generated automatically (elevation/aspect/downscaled Tmin-Tmax/risk R/advice)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Segoe UI"/>
              </a:rPr>
              <a:t>• Step 3 Ask or export: 'how to manage this plot for 3 days', or open the plot health card to print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Segoe UI"/>
              </a:rPr>
              <a:t>• Links: /terrain.html | plot card: /plot_report.html?lat=30.2215&amp;lon=120.1000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E8EEF3"/>
                </a:solidFill>
                <a:latin typeface="Segoe UI"/>
              </a:rPr>
              <a:t>Validation &amp;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6035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Segoe UI"/>
              </a:rPr>
              <a:t>• Spring frost 357 days: Tmin MAE 1.32C (CI 1.21-1.43) vs 2.08C persistence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Segoe UI"/>
              </a:rPr>
              <a:t>• 1/3/7-day MAE 0.49/0.67/0.91C; POD 0.709 / FAR 0 / CSI 0.709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Segoe UI"/>
              </a:rPr>
              <a:t>• Event backtest 7/7; next: frozen versions + plot sensors + positive/negative field reports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Segoe UI"/>
              </a:rPr>
              <a:t>• 90-day field pilot; decision support only</a:t>
            </a:r>
          </a:p>
        </p:txBody>
      </p:sp>
      <p:pic>
        <p:nvPicPr>
          <p:cNvPr id="6" name="Picture 5" descr="fig_back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645920"/>
            <a:ext cx="4358640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E8EEF3"/>
                </a:solidFill>
                <a:latin typeface="Segoe UI"/>
              </a:rPr>
              <a:t>Run &amp; compliance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Segoe UI"/>
              </a:rPr>
              <a:t>• Live: https://teawindow.onrender.com/ ; Static: https://eric2007-sudo.github.io/TeaWindow/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Segoe UI"/>
              </a:rPr>
              <a:t>• Local: uvicorn src.serve:app ; Offline single-page: web/index.html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Segoe UI"/>
              </a:rPr>
              <a:t>• Data: Open-Meteo ERA5 history + MET Norway forecast (dual-source), NASA GIBS NDVI, Sentinel-2, DEM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E8EEF3"/>
                </a:solidFill>
                <a:latin typeface="Segoe UI"/>
              </a:rPr>
              <a:t>• License: code MIT, data/docs CC BY 4.0; decision support only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E8EEF3"/>
                </a:solidFill>
                <a:latin typeface="Segoe UI"/>
              </a:rPr>
              <a:t>ONE PLACE - ONE CLIMATE PROBLEM - ONE AI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7472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>
                <a:solidFill>
                  <a:srgbClr val="9FB4C6"/>
                </a:solidFill>
                <a:latin typeface="Segoe UI"/>
              </a:rPr>
              <a:t>TeaWindow - bringing AI to real tea gardens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9FB4C6"/>
                </a:solidFill>
                <a:latin typeface="Segoe UI"/>
              </a:rPr>
              <a:t>• Live https://teawindow.onrender.com/</a:t>
            </a:r>
          </a:p>
          <a:p>
            <a:r>
              <a:rPr sz="1500">
                <a:solidFill>
                  <a:srgbClr val="9FB4C6"/>
                </a:solidFill>
                <a:latin typeface="Segoe UI"/>
              </a:rPr>
              <a:t>• Static https://eric2007-sudo.github.io/TeaWindow/</a:t>
            </a:r>
          </a:p>
          <a:p>
            <a:r>
              <a:rPr sz="1500">
                <a:solidFill>
                  <a:srgbClr val="9FB4C6"/>
                </a:solidFill>
                <a:latin typeface="Segoe UI"/>
              </a:rPr>
              <a:t>• Repo https://github.com/Eric2007-sudo/TeaWindow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