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  <p:sldMasterId id="2147483660" r:id="rId2"/>
    <p:sldMasterId id="2147483661" r:id="rId3"/>
  </p:sldMasterIdLst>
  <p:notesMasterIdLst>
    <p:notesMasterId r:id="rId16"/>
  </p:notesMasterIdLst>
  <p:sldIdLst>
    <p:sldId id="256" r:id="rId4"/>
    <p:sldId id="269" r:id="rId22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21"/>
  </p:sldIdLst>
  <p:sldSz cx="121793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57" y="81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3.xml"/><Relationship Id="rId22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17.10.2026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Hook: a good cup of West Lake Longjing depends on a few days of harvest window, and climate is disrupting it.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Evidence is public and citable: 2010 losses ~RMB 1.7bn; 2020/2022 ~5,000 mu heat damage; 2024 Hangzhou 60 high-temp days.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Three daily questions: risk today? which risk? harvest or protect? Signals are scattered; decision support only.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Dual-source weather (Open-Meteo history + MET Norway forecast with fallback), indicator engine, GBDT compound risk, transparent rules; LLM is optional rephrasing with rule fallback.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One threshold cannot capture frost x heat x drought x stage interactions. Held-out AUC 0.998/F1 0.85 vs 0.78/0.50; explicitly weak-label, not field accuracy.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From prediction to decisions: scheduling + expected utility (pick/wait/protect) + value/insurance + plot-level frost susceptibility.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Live demo: open the site, click In-house QA, ask a multi-part question, then show the QR share page.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Plot level: terrain risk map -&gt; click a spot -&gt; auto-generated plot data -&gt; printable health card; mention the multi-station sensor API.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Three steps: open the terrain map and pick a layer; click a spot to generate data; open the plot health card to print or ask for the next 3 days.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Validation: 357-day spring frost MAE 1.32C vs 2.08C persistence; POD 0.709/FAR 0/CSI 0.709; 7/7 backtest. Next: frozen versions + plot sensors + field reports.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Run &amp; compliance: live/static forms; local uvicorn or offline single page; all data public and key-free; code MIT, data/docs CC BY 4.0.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Close with the tagline and the three links (live/static/repo).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幻灯片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" name="Shape 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Shape 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" name="Shape 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" name="Shape 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内容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" name="Shape 5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" name="Shape 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" name="Shape 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" name="Shape 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节标题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5" name="Shape 6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Shape 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7" name="Shape 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8" name="Shape 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两栏内容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" name="Shape 1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2" name="Shape 1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3" name="Shape 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4" name="Shape 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5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较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Shape 36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9" name="Shape 3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" name="Shape 3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1" name="Shape 3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" name="Shape 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3" name="Shape 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4" name="Shape 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仅标题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7" name="Shape 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8" name="Shape 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9" name="Shape 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2" name="Shape 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3" name="Shape 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与标题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6" name="Shape 4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57" name="Shape 45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58" name="Shape 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9" name="Shape 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Shape 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65" name="Shape 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6" name="Shape 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7" name="Shape 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竖排文字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0" name="Shape 50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1" name="Shape 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2" name="Shape 5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3" name="Shape 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竖排标题与文本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6" name="Shape 16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7" name="Shape 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8" name="Shape 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9" name="Shape 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6" hasCustomPrompt="1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7" hasCustomPrompt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rmAutofit/>
          </a:bodyPr>
          <a:lstStyle>
            <a:lvl1pPr algn="ctr" defTabSz="457200">
              <a:lnSpc>
                <a:spcPct val="100000"/>
              </a:lnSpc>
              <a:defRPr sz="3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  <a:spcBef>
                <a:spcPct val="20000"/>
              </a:spcBef>
            </a:pPr>
            <a:r>
              <a:rPr lang="en-US" sz="3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Click to edit Master subtitle style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8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9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10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B7923172-30A8-4FB2-9EA4-9EB2F3C79CDE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rmAutofit/>
          </a:bodyPr>
          <a:lstStyle>
            <a:lvl1pPr marL="749300" indent="-406400" algn="l" defTabSz="457200">
              <a:lnSpc>
                <a:spcPct val="100000"/>
              </a:lnSpc>
              <a:defRPr sz="32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98550" indent="-355600"/>
            <a:lvl3pPr marL="1447800" indent="-304800"/>
            <a:lvl4pPr marL="1854200" indent="-254000"/>
            <a:lvl5pPr marL="2311400" indent="-254000"/>
            <a:lvl6pPr marL="2768600" indent="-254000"/>
            <a:lvl7pPr marL="3225800" indent="-254000"/>
            <a:lvl8pPr marL="3683000" indent="-254000"/>
            <a:lvl9pPr marL="4140200" indent="-2540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14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15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9A0D18E4-8C7D-4A98-A4AA-AB35F8264F2A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16" hasCustomPrompt="1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rmAutofit/>
          </a:bodyPr>
          <a:lstStyle>
            <a:lvl1pPr algn="l" defTabSz="457200">
              <a:lnSpc>
                <a:spcPct val="100000"/>
              </a:lnSpc>
              <a:defRPr sz="4000" b="1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40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17" hasCustomPrompt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b">
            <a:normAutofit/>
          </a:bodyPr>
          <a:lstStyle>
            <a:lvl1pPr algn="l" defTabSz="457200">
              <a:lnSpc>
                <a:spcPct val="100000"/>
              </a:lnSpc>
              <a:defRPr sz="20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  <a:spcBef>
                <a:spcPct val="20000"/>
              </a:spcBef>
            </a:pPr>
            <a:r>
              <a:rPr lang="en-US" sz="20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18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19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20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7297971C-AB6A-429D-BBE8-D3A794631B68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21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22" hasCustomPrompt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rmAutofit/>
          </a:bodyPr>
          <a:lstStyle>
            <a:lvl1pPr marL="698500" indent="-355600" algn="l" defTabSz="457200">
              <a:lnSpc>
                <a:spcPct val="100000"/>
              </a:lnSpc>
              <a:defRPr sz="28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47750" indent="-304800"/>
            <a:lvl3pPr marL="1397000" indent="-254000"/>
            <a:lvl4pPr marL="1828800" indent="-228600"/>
            <a:lvl5pPr marL="2286000" indent="-228600"/>
            <a:lvl6pPr marL="2743200" indent="-228600"/>
            <a:lvl7pPr marL="3200400" indent="-228600"/>
            <a:lvl8pPr marL="3657600" indent="-228600"/>
            <a:lvl9pPr marL="4114800" indent="-2286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1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1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23" hasCustomPrompt="1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Autofit/>
          </a:bodyPr>
          <a:lstStyle>
            <a:lvl1pPr marL="698500" indent="-355600" algn="l" defTabSz="457200">
              <a:lnSpc>
                <a:spcPct val="100000"/>
              </a:lnSpc>
              <a:defRPr sz="28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47750" indent="-304800"/>
            <a:lvl3pPr marL="1397000" indent="-254000"/>
            <a:lvl4pPr marL="1828800" indent="-228600"/>
            <a:lvl5pPr marL="2286000" indent="-228600"/>
            <a:lvl6pPr marL="2743200" indent="-228600"/>
            <a:lvl7pPr marL="3200400" indent="-228600"/>
            <a:lvl8pPr marL="3657600" indent="-228600"/>
            <a:lvl9pPr marL="4114800" indent="-2286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1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1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24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25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7" name="AutoShape 7"/>
          <p:cNvSpPr>
            <a:spLocks noGrp="1"/>
          </p:cNvSpPr>
          <p:nvPr>
            <p:ph type="body" sz="quarter" idx="26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B70F0D46-4672-4683-AFDE-CB5A35DB8F26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28" hasCustomPrompt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b">
            <a:normAutofit/>
          </a:bodyPr>
          <a:lstStyle>
            <a:lvl1pPr algn="l" defTabSz="457200">
              <a:lnSpc>
                <a:spcPct val="100000"/>
              </a:lnSpc>
              <a:defRPr sz="2400" b="1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  <a:spcBef>
                <a:spcPct val="20000"/>
              </a:spcBef>
            </a:pPr>
            <a:r>
              <a:rPr lang="en-US" sz="24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29" hasCustomPrompt="1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Autofit/>
          </a:bodyPr>
          <a:lstStyle>
            <a:lvl1pPr marL="647700" indent="-304800" algn="l" defTabSz="457200">
              <a:lnSpc>
                <a:spcPct val="100000"/>
              </a:lnSpc>
              <a:defRPr sz="2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996950" indent="-254000"/>
            <a:lvl3pPr marL="1371600" indent="-228600"/>
            <a:lvl4pPr marL="1803400" indent="-203200"/>
            <a:lvl5pPr marL="2260600" indent="-203200"/>
            <a:lvl6pPr marL="2717800" indent="-203200"/>
            <a:lvl7pPr marL="3175000" indent="-203200"/>
            <a:lvl8pPr marL="3632200" indent="-203200"/>
            <a:lvl9pPr marL="4089400" indent="-2032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16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16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30" hasCustomPrompt="1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b">
            <a:noAutofit/>
          </a:bodyPr>
          <a:lstStyle>
            <a:lvl1pPr algn="l" defTabSz="457200">
              <a:lnSpc>
                <a:spcPct val="100000"/>
              </a:lnSpc>
              <a:defRPr sz="2400" b="1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  <a:spcBef>
                <a:spcPct val="20000"/>
              </a:spcBef>
            </a:pPr>
            <a:r>
              <a:rPr lang="en-US" sz="24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31" hasCustomPrompt="1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Autofit/>
          </a:bodyPr>
          <a:lstStyle>
            <a:lvl1pPr marL="647700" indent="-304800" algn="l" defTabSz="457200">
              <a:lnSpc>
                <a:spcPct val="100000"/>
              </a:lnSpc>
              <a:defRPr sz="2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996950" indent="-254000"/>
            <a:lvl3pPr marL="1371600" indent="-228600"/>
            <a:lvl4pPr marL="1803400" indent="-203200"/>
            <a:lvl5pPr marL="2260600" indent="-203200"/>
            <a:lvl6pPr marL="2717800" indent="-203200"/>
            <a:lvl7pPr marL="3175000" indent="-203200"/>
            <a:lvl8pPr marL="3632200" indent="-203200"/>
            <a:lvl9pPr marL="4089400" indent="-2032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16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16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7" name="AutoShape 7"/>
          <p:cNvSpPr>
            <a:spLocks noGrp="1"/>
          </p:cNvSpPr>
          <p:nvPr>
            <p:ph type="body" sz="quarter" idx="32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8" name="AutoShape 8"/>
          <p:cNvSpPr>
            <a:spLocks noGrp="1"/>
          </p:cNvSpPr>
          <p:nvPr>
            <p:ph type="body" sz="quarter" idx="33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9" name="AutoShape 9"/>
          <p:cNvSpPr>
            <a:spLocks noGrp="1"/>
          </p:cNvSpPr>
          <p:nvPr>
            <p:ph type="body" sz="quarter" idx="34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FC1AA245-E1BC-4493-9558-CAD2688E6628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35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36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37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38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22B03D3D-E48F-4C32-81A3-9B81BC2B98D8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39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40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41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1229CEBB-B68E-4147-A8A0-1D86C5ABE3C2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42" hasCustomPrompt="1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b">
            <a:normAutofit/>
          </a:bodyPr>
          <a:lstStyle>
            <a:lvl1pPr algn="l" defTabSz="457200">
              <a:lnSpc>
                <a:spcPct val="100000"/>
              </a:lnSpc>
              <a:defRPr sz="2000" b="1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20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43" hasCustomPrompt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rmAutofit/>
          </a:bodyPr>
          <a:lstStyle>
            <a:lvl1pPr marL="749300" indent="-406400" algn="l" defTabSz="457200">
              <a:lnSpc>
                <a:spcPct val="100000"/>
              </a:lnSpc>
              <a:defRPr sz="32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98550" indent="-355600"/>
            <a:lvl3pPr marL="1447800" indent="-304800"/>
            <a:lvl4pPr marL="1854200" indent="-254000"/>
            <a:lvl5pPr marL="2311400" indent="-254000"/>
            <a:lvl6pPr marL="2768600" indent="-254000"/>
            <a:lvl7pPr marL="3225800" indent="-254000"/>
            <a:lvl8pPr marL="3683000" indent="-254000"/>
            <a:lvl9pPr marL="4140200" indent="-2540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44" hasCustomPrompt="1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defRPr sz="1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  <a:spcBef>
                <a:spcPct val="20000"/>
              </a:spcBef>
            </a:pPr>
            <a:r>
              <a:rPr lang="en-US" sz="1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45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46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7" name="AutoShape 7"/>
          <p:cNvSpPr>
            <a:spLocks noGrp="1"/>
          </p:cNvSpPr>
          <p:nvPr>
            <p:ph type="body" sz="quarter" idx="47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D3A00FDC-A48D-4317-BFDF-5CF6FB873F83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48" hasCustomPrompt="1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b">
            <a:normAutofit/>
          </a:bodyPr>
          <a:lstStyle>
            <a:lvl1pPr algn="l" defTabSz="457200">
              <a:lnSpc>
                <a:spcPct val="100000"/>
              </a:lnSpc>
              <a:defRPr sz="2000" b="1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20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pic" sz="quarter" idx="49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63500" tIns="63500" rIns="63500" bIns="63500" anchor="ctr"/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4" name="AutoShape 4"/>
          <p:cNvSpPr>
            <a:spLocks noGrp="1"/>
          </p:cNvSpPr>
          <p:nvPr>
            <p:ph type="body" sz="quarter" idx="50" hasCustomPrompt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defRPr sz="1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  <a:spcBef>
                <a:spcPct val="20000"/>
              </a:spcBef>
            </a:pPr>
            <a:r>
              <a:rPr lang="en-US" sz="1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51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52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7" name="AutoShape 7"/>
          <p:cNvSpPr>
            <a:spLocks noGrp="1"/>
          </p:cNvSpPr>
          <p:nvPr>
            <p:ph type="body" sz="quarter" idx="53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28345E17-9FE0-47B7-A5EE-8A99EAC6DA29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54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55" hasCustomPrompt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eaVert" wrap="square" lIns="91440" tIns="45720" rIns="91440" bIns="45720" anchor="t">
            <a:normAutofit/>
          </a:bodyPr>
          <a:lstStyle>
            <a:lvl1pPr marL="749300" indent="-406400" algn="l" defTabSz="457200">
              <a:lnSpc>
                <a:spcPct val="100000"/>
              </a:lnSpc>
              <a:defRPr sz="32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98550" indent="-355600"/>
            <a:lvl3pPr marL="1447800" indent="-304800"/>
            <a:lvl4pPr marL="1854200" indent="-254000"/>
            <a:lvl5pPr marL="2311400" indent="-254000"/>
            <a:lvl6pPr marL="2768600" indent="-254000"/>
            <a:lvl7pPr marL="3225800" indent="-254000"/>
            <a:lvl8pPr marL="3683000" indent="-254000"/>
            <a:lvl9pPr marL="4140200" indent="-2540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56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57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58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05900706-BEF8-43E2-A4CF-07840DFE0825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59" hasCustomPrompt="1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eaVert"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60" hasCustomPrompt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eaVert" wrap="square" lIns="91440" tIns="45720" rIns="91440" bIns="45720" anchor="t">
            <a:normAutofit/>
          </a:bodyPr>
          <a:lstStyle>
            <a:lvl1pPr marL="749300" indent="-406400" algn="l" defTabSz="457200">
              <a:lnSpc>
                <a:spcPct val="100000"/>
              </a:lnSpc>
              <a:defRPr sz="32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98550" indent="-355600"/>
            <a:lvl3pPr marL="1447800" indent="-304800"/>
            <a:lvl4pPr marL="1854200" indent="-254000"/>
            <a:lvl5pPr marL="2311400" indent="-254000"/>
            <a:lvl6pPr marL="2768600" indent="-254000"/>
            <a:lvl7pPr marL="3225800" indent="-254000"/>
            <a:lvl8pPr marL="3683000" indent="-254000"/>
            <a:lvl9pPr marL="4140200" indent="-2540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61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62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63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CD4C8097-E559-4D7F-BA01-6ACD9E4B772B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7" name="Shape 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Shape 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Shape 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Shape 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自定义主题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5748369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Office Theme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1"/>
          <p:cNvSpPr>
            <a:spLocks noGrp="1"/>
          </p:cNvSpPr>
          <p:nvPr>
            <p:ph type="body" sz="quarter" idx="1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1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2" name="AutoShape 2"/>
          <p:cNvSpPr>
            <a:spLocks noGrp="1"/>
          </p:cNvSpPr>
          <p:nvPr>
            <p:ph type="body" sz="quarter" idx="2" hasCustomPrompt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t">
            <a:normAutofit/>
          </a:bodyPr>
          <a:lstStyle>
            <a:lvl1pPr marL="749300" indent="-406400" algn="l" defTabSz="457200">
              <a:lnSpc>
                <a:spcPct val="100000"/>
              </a:lnSpc>
              <a:defRPr sz="32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98550" indent="-355600"/>
            <a:lvl3pPr marL="1447800" indent="-304800"/>
            <a:lvl4pPr marL="1854200" indent="-254000"/>
            <a:lvl5pPr marL="2311400" indent="-254000"/>
            <a:lvl6pPr marL="2768600" indent="-254000"/>
            <a:lvl7pPr marL="3225800" indent="-254000"/>
            <a:lvl8pPr marL="3683000" indent="-254000"/>
            <a:lvl9pPr marL="4140200" indent="-2540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3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4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5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9137746A-5FBD-476C-8F2B-956B1D97E72B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57483700" r:id="rId1"/>
    <p:sldLayoutId id="2157483701" r:id="rId2"/>
    <p:sldLayoutId id="2157483702" r:id="rId3"/>
    <p:sldLayoutId id="2157483703" r:id="rId4"/>
    <p:sldLayoutId id="2157483704" r:id="rId5"/>
    <p:sldLayoutId id="2157483705" r:id="rId6"/>
    <p:sldLayoutId id="2157483706" r:id="rId7"/>
    <p:sldLayoutId id="2157483707" r:id="rId8"/>
    <p:sldLayoutId id="2157483708" r:id="rId9"/>
    <p:sldLayoutId id="2157483709" r:id="rId10"/>
    <p:sldLayoutId id="2157483710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2387600"/>
            <a:ext cx="76200" cy="16764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371600" y="2311400"/>
            <a:ext cx="9906000" cy="965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52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TeaWindow</a:t>
            </a:r>
            <a:endParaRPr lang="en-US" sz="1100"/>
          </a:p>
        </p:txBody>
      </p:sp>
      <p:sp>
        <p:nvSpPr>
          <p:cNvPr id="4" name="AutoShape 4"/>
          <p:cNvSpPr txBox="1"/>
          <p:nvPr/>
        </p:nvSpPr>
        <p:spPr>
          <a:xfrm>
            <a:off x="1371600" y="3378200"/>
            <a:ext cx="9906000" cy="4826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9FB4C6"/>
                </a:solidFill>
                <a:latin typeface="Inter"/>
                <a:ea typeface="Inter"/>
                <a:cs typeface="Inter"/>
                <a:sym typeface="Inter"/>
              </a:rPr>
              <a:t>AI4Climate · Climate-smart tea farming</a:t>
            </a:r>
            <a:endParaRPr lang="en-US" sz="1100"/>
          </a:p>
        </p:txBody>
      </p:sp>
      <p:sp>
        <p:nvSpPr>
          <p:cNvPr id="5" name="AutoShape 5"/>
          <p:cNvSpPr txBox="1"/>
          <p:nvPr/>
        </p:nvSpPr>
        <p:spPr>
          <a:xfrm>
            <a:off x="1371600" y="4267200"/>
            <a:ext cx="9398000" cy="1651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Meijiawu, West Lake Longjing core area (30.21N, 120.10E)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Turning late frost x heat x drought into plot-level action</a:t>
            </a:r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One Place - One Climate Problem - One AI Solution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Problem &amp; evidence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 txBox="1"/>
          <p:nvPr/>
        </p:nvSpPr>
        <p:spPr>
          <a:xfrm>
            <a:off x="812800" y="2032000"/>
            <a:ext cx="5207000" cy="3810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~70% of gardens grow early-budding, drought-sensitive Longjing 43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2010 Zhejiang cold event: ~1.5M mu, ~RMB 1.7bn losses (~30% of West Lake gardens hit, ~10-day delay)</a:t>
            </a:r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2020/2022: ~5,000 mu heat damage; 2024 Hangzhou 60 high-temp days (record)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451600" y="2489200"/>
            <a:ext cx="4902200" cy="2451100"/>
          </a:xfrm>
          <a:prstGeom prst="rect">
            <a:avLst/>
          </a:prstGeom>
          <a:noFill/>
          <a:ln w="12700" cap="flat" cmpd="sng">
            <a:solidFill>
              <a:srgbClr val="FFFFFF">
                <a:alpha val="18000"/>
              </a:srgbClr>
            </a:solidFill>
            <a:prstDash val="solid"/>
            <a:round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Users &amp; pain point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812800" y="20828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 txBox="1"/>
          <p:nvPr/>
        </p:nvSpPr>
        <p:spPr>
          <a:xfrm>
            <a:off x="1117600" y="20828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7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Farmers, harvesting teams, cooperatives, tea enterprises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6248400" y="20828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 txBox="1"/>
          <p:nvPr/>
        </p:nvSpPr>
        <p:spPr>
          <a:xfrm>
            <a:off x="6553200" y="20828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7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Three daily questions: risk today? which risk? harvest or protect?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812800" y="40640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 txBox="1"/>
          <p:nvPr/>
        </p:nvSpPr>
        <p:spPr>
          <a:xfrm>
            <a:off x="1117600" y="40640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7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Signals (weather/vegetation/terrain/soil) are scattered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248400" y="40640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 txBox="1"/>
          <p:nvPr/>
        </p:nvSpPr>
        <p:spPr>
          <a:xfrm>
            <a:off x="6553200" y="40640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7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Decision support only; respects official warnings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Solution architecture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 txBox="1"/>
          <p:nvPr/>
        </p:nvSpPr>
        <p:spPr>
          <a:xfrm>
            <a:off x="812800" y="2082800"/>
            <a:ext cx="5588000" cy="4064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Input: Open-Meteo ERA5 history + MET Norway forecast (dual-source), NDVI, terrain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Indicator engine: GDD, frost, cold spells, heat, drought, prolonged rain</a:t>
            </a:r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Model: numpy GBDT compound risk -&gt; transparent rules for suitability &amp; windows</a:t>
            </a:r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Output: plain-language actions (offline/online)</a:t>
            </a:r>
          </a:p>
        </p:txBody>
      </p:sp>
      <p:sp>
        <p:nvSpPr>
          <p:cNvPr id="6" name="AutoShape 6"/>
          <p:cNvSpPr/>
          <p:nvPr/>
        </p:nvSpPr>
        <p:spPr>
          <a:xfrm>
            <a:off x="8407400" y="1905000"/>
            <a:ext cx="2971800" cy="4394200"/>
          </a:xfrm>
          <a:prstGeom prst="roundRect">
            <a:avLst>
              <a:gd name="adj" fmla="val 5982"/>
            </a:avLst>
          </a:prstGeom>
          <a:solidFill>
            <a:srgbClr val="FFFFFF">
              <a:alpha val="4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rcRect l="158" r="158"/>
          <a:stretch>
            <a:fillRect/>
          </a:stretch>
        </p:blipFill>
        <p:spPr>
          <a:xfrm>
            <a:off x="9055100" y="2082800"/>
            <a:ext cx="1676400" cy="4013200"/>
          </a:xfrm>
          <a:prstGeom prst="rect">
            <a:avLst/>
          </a:prstGeom>
          <a:noFill/>
          <a:ln w="12700" cap="flat" cmpd="sng">
            <a:solidFill>
              <a:srgbClr val="FFFFFF">
                <a:alpha val="12000"/>
              </a:srgbClr>
            </a:solidFill>
            <a:prstDash val="solid"/>
            <a:round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Why AI is necessary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 txBox="1"/>
          <p:nvPr/>
        </p:nvSpPr>
        <p:spPr>
          <a:xfrm>
            <a:off x="812800" y="2082800"/>
            <a:ext cx="5207000" cy="4064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A single threshold (e.g. Tmin) misses frost x heat x drought x stage interactions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Held-out 2024-2025: AUC 0.998 / F1 0.85 vs single-threshold 0.78 / 0.50 (weak-label)</a:t>
            </a:r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Ensemble gives uncertainty; terrain + NDVI give plot-level context</a:t>
            </a:r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Weak-label evaluation is not field accuracy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rcRect l="64" r="64"/>
          <a:stretch>
            <a:fillRect/>
          </a:stretch>
        </p:blipFill>
        <p:spPr>
          <a:xfrm>
            <a:off x="6451600" y="2311400"/>
            <a:ext cx="4927600" cy="2819400"/>
          </a:xfrm>
          <a:prstGeom prst="rect">
            <a:avLst/>
          </a:prstGeom>
          <a:noFill/>
          <a:ln w="12700" cap="flat" cmpd="sng">
            <a:solidFill>
              <a:srgbClr val="FFFFFF">
                <a:alpha val="18000"/>
              </a:srgbClr>
            </a:solidFill>
            <a:prstDash val="solid"/>
            <a:round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From prediction to decisions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 txBox="1"/>
          <p:nvPr/>
        </p:nvSpPr>
        <p:spPr>
          <a:xfrm>
            <a:off x="812800" y="2235200"/>
            <a:ext cx="5207000" cy="3556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8333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Harvest scheduling + decision-theoretic expected utility (pick/wait/protect)</a:t>
            </a:r>
            <a:endParaRPr lang="en-US" sz="1100"/>
          </a:p>
          <a:p>
            <a:pPr marL="0" indent="0" algn="l">
              <a:lnSpc>
                <a:spcPct val="158333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Value loop: expected loss / premium; weather-index insurance (plot-level)</a:t>
            </a:r>
          </a:p>
          <a:p>
            <a:pPr marL="0" indent="0" algn="l">
              <a:lnSpc>
                <a:spcPct val="158333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Plot-level frost susceptibility from terrain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451600" y="2489200"/>
            <a:ext cx="4902200" cy="2451100"/>
          </a:xfrm>
          <a:prstGeom prst="rect">
            <a:avLst/>
          </a:prstGeom>
          <a:noFill/>
          <a:ln w="12700" cap="flat" cmpd="sng">
            <a:solidFill>
              <a:srgbClr val="FFFFFF">
                <a:alpha val="18000"/>
              </a:srgbClr>
            </a:solidFill>
            <a:prstDash val="solid"/>
            <a:round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Live demo + in-house QA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 txBox="1"/>
          <p:nvPr/>
        </p:nvSpPr>
        <p:spPr>
          <a:xfrm>
            <a:off x="812800" y="2082800"/>
            <a:ext cx="5207000" cy="4064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Live https://teawindow.onrender.com/ ; Static https://eric2007-sudo.github.io/TeaWindow/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In-house QA: ONNX intent + grounded generation + provenance chain</a:t>
            </a:r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Multi-part questions, JSON/table cross-turn consistency, task reference &amp; memory</a:t>
            </a:r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Ops loop: 3h refresh + drift check + stale degradation + real DingTalk alerts</a:t>
            </a:r>
          </a:p>
        </p:txBody>
      </p:sp>
      <p:sp>
        <p:nvSpPr>
          <p:cNvPr id="6" name="AutoShape 6"/>
          <p:cNvSpPr/>
          <p:nvPr/>
        </p:nvSpPr>
        <p:spPr>
          <a:xfrm>
            <a:off x="6324600" y="2082800"/>
            <a:ext cx="5080000" cy="3454400"/>
          </a:xfrm>
          <a:prstGeom prst="roundRect">
            <a:avLst>
              <a:gd name="adj" fmla="val 5147"/>
            </a:avLst>
          </a:prstGeom>
          <a:solidFill>
            <a:srgbClr val="FFFFFF">
              <a:alpha val="4000"/>
            </a:srgbClr>
          </a:solidFill>
          <a:ln w="12700" cap="flat" cmpd="sng">
            <a:solidFill>
              <a:srgbClr val="FFFFFF">
                <a:alpha val="12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rcRect l="105" r="105"/>
          <a:stretch>
            <a:fillRect/>
          </a:stretch>
        </p:blipFill>
        <p:spPr>
          <a:xfrm>
            <a:off x="6451600" y="2209800"/>
            <a:ext cx="4826000" cy="3022600"/>
          </a:xfrm>
          <a:prstGeom prst="rect">
            <a:avLst/>
          </a:prstGeom>
          <a:noFill/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Plot-level: what's new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812800" y="1879600"/>
            <a:ext cx="10566400" cy="736600"/>
          </a:xfrm>
          <a:prstGeom prst="roundRect">
            <a:avLst>
              <a:gd name="adj" fmla="val 20689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 txBox="1"/>
          <p:nvPr/>
        </p:nvSpPr>
        <p:spPr>
          <a:xfrm>
            <a:off x="1168400" y="1879600"/>
            <a:ext cx="9906000" cy="7366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1) Terrain risk map: DEM hillshade + contours/scale/north arrow; live layers (composite/frost/heat/drought, 60s)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812800" y="2730500"/>
            <a:ext cx="10566400" cy="736600"/>
          </a:xfrm>
          <a:prstGeom prst="roundRect">
            <a:avLst>
              <a:gd name="adj" fmla="val 20689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 txBox="1"/>
          <p:nvPr/>
        </p:nvSpPr>
        <p:spPr>
          <a:xfrm>
            <a:off x="1168400" y="2730500"/>
            <a:ext cx="9906000" cy="7366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2) Click-to-data: any spot -&gt; elevation/slope/aspect + downscaled Tmin/Tmax + risk R + advice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812800" y="3581400"/>
            <a:ext cx="10566400" cy="736600"/>
          </a:xfrm>
          <a:prstGeom prst="roundRect">
            <a:avLst>
              <a:gd name="adj" fmla="val 20689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 txBox="1"/>
          <p:nvPr/>
        </p:nvSpPr>
        <p:spPr>
          <a:xfrm>
            <a:off x="1168400" y="3581400"/>
            <a:ext cx="9906000" cy="7366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3) Printable plot health card: today + 3-day outlook + provenance (save as PDF)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812800" y="4432300"/>
            <a:ext cx="10566400" cy="736600"/>
          </a:xfrm>
          <a:prstGeom prst="roundRect">
            <a:avLst>
              <a:gd name="adj" fmla="val 20689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 txBox="1"/>
          <p:nvPr/>
        </p:nvSpPr>
        <p:spPr>
          <a:xfrm>
            <a:off x="1168400" y="4432300"/>
            <a:ext cx="9906000" cy="7366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4) Multi-day plot Q&amp;A: 'how to manage this plot for the next N days' -&gt; daily Tmin/Tmax/rain/R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812800" y="5283200"/>
            <a:ext cx="10566400" cy="736600"/>
          </a:xfrm>
          <a:prstGeom prst="roundRect">
            <a:avLst>
              <a:gd name="adj" fmla="val 20689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" name="AutoShape 14"/>
          <p:cNvSpPr txBox="1"/>
          <p:nvPr/>
        </p:nvSpPr>
        <p:spPr>
          <a:xfrm>
            <a:off x="1168400" y="5283200"/>
            <a:ext cx="9906000" cy="7366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5) Multi-station sensors: register any station_id + plot coordinates; markers on the map</a:t>
            </a:r>
            <a:endParaRPr lang="en-US"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How to use: 3 steps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812800" y="2032000"/>
            <a:ext cx="3454400" cy="2997200"/>
          </a:xfrm>
          <a:prstGeom prst="roundRect">
            <a:avLst>
              <a:gd name="adj" fmla="val 5932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 txBox="1"/>
          <p:nvPr/>
        </p:nvSpPr>
        <p:spPr>
          <a:xfrm>
            <a:off x="1092200" y="2336800"/>
            <a:ext cx="2946400" cy="2489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41666"/>
              </a:lnSpc>
              <a:defRPr/>
            </a:pPr>
            <a:r>
              <a:rPr lang="en-US" sz="1600" b="1" i="0" u="none" strike="noStrike">
                <a:solidFill>
                  <a:srgbClr val="4AA8FF"/>
                </a:solidFill>
                <a:latin typeface="Inter"/>
                <a:ea typeface="Inter"/>
                <a:cs typeface="Inter"/>
                <a:sym typeface="Inter"/>
              </a:rPr>
              <a:t>Step 1</a:t>
            </a:r>
            <a:endParaRPr lang="en-US" sz="1100"/>
          </a:p>
          <a:p>
            <a:pPr marL="0" indent="0" algn="l">
              <a:lnSpc>
                <a:spcPct val="141666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Open the terrain risk map and pick a layer (composite/frost/heat/drought)</a:t>
            </a:r>
          </a:p>
        </p:txBody>
      </p:sp>
      <p:sp>
        <p:nvSpPr>
          <p:cNvPr id="7" name="AutoShape 7"/>
          <p:cNvSpPr/>
          <p:nvPr/>
        </p:nvSpPr>
        <p:spPr>
          <a:xfrm>
            <a:off x="4368800" y="2032000"/>
            <a:ext cx="3454400" cy="2997200"/>
          </a:xfrm>
          <a:prstGeom prst="roundRect">
            <a:avLst>
              <a:gd name="adj" fmla="val 5932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 txBox="1"/>
          <p:nvPr/>
        </p:nvSpPr>
        <p:spPr>
          <a:xfrm>
            <a:off x="4648200" y="2336800"/>
            <a:ext cx="2946400" cy="2489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41666"/>
              </a:lnSpc>
              <a:defRPr/>
            </a:pPr>
            <a:r>
              <a:rPr lang="en-US" sz="1600" b="1" i="0" u="none" strike="noStrike">
                <a:solidFill>
                  <a:srgbClr val="4AA8FF"/>
                </a:solidFill>
                <a:latin typeface="Inter"/>
                <a:ea typeface="Inter"/>
                <a:cs typeface="Inter"/>
                <a:sym typeface="Inter"/>
              </a:rPr>
              <a:t>Step 2</a:t>
            </a:r>
            <a:endParaRPr lang="en-US" sz="1100"/>
          </a:p>
          <a:p>
            <a:pPr marL="0" indent="0" algn="l">
              <a:lnSpc>
                <a:spcPct val="141666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Click any spot: plot data is generated automatically (elevation/aspect/downscaled Tmin-Tmax/risk R/advice)</a:t>
            </a:r>
          </a:p>
        </p:txBody>
      </p:sp>
      <p:sp>
        <p:nvSpPr>
          <p:cNvPr id="9" name="AutoShape 9"/>
          <p:cNvSpPr/>
          <p:nvPr/>
        </p:nvSpPr>
        <p:spPr>
          <a:xfrm>
            <a:off x="7924800" y="2032000"/>
            <a:ext cx="3454400" cy="2997200"/>
          </a:xfrm>
          <a:prstGeom prst="roundRect">
            <a:avLst>
              <a:gd name="adj" fmla="val 5932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 txBox="1"/>
          <p:nvPr/>
        </p:nvSpPr>
        <p:spPr>
          <a:xfrm>
            <a:off x="8204200" y="2336800"/>
            <a:ext cx="2946400" cy="2489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41666"/>
              </a:lnSpc>
              <a:defRPr/>
            </a:pPr>
            <a:r>
              <a:rPr lang="en-US" sz="1600" b="1" i="0" u="none" strike="noStrike">
                <a:solidFill>
                  <a:srgbClr val="4AA8FF"/>
                </a:solidFill>
                <a:latin typeface="Inter"/>
                <a:ea typeface="Inter"/>
                <a:cs typeface="Inter"/>
                <a:sym typeface="Inter"/>
              </a:rPr>
              <a:t>Step 3</a:t>
            </a:r>
            <a:endParaRPr lang="en-US" sz="1100"/>
          </a:p>
          <a:p>
            <a:pPr marL="0" indent="0" algn="l">
              <a:lnSpc>
                <a:spcPct val="141666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Ask or export: 'how to manage this plot for 3 days', or open the plot health card to print</a:t>
            </a:r>
          </a:p>
        </p:txBody>
      </p:sp>
      <p:sp>
        <p:nvSpPr>
          <p:cNvPr id="11" name="AutoShape 11"/>
          <p:cNvSpPr/>
          <p:nvPr/>
        </p:nvSpPr>
        <p:spPr>
          <a:xfrm>
            <a:off x="812800" y="5384800"/>
            <a:ext cx="10566400" cy="711200"/>
          </a:xfrm>
          <a:prstGeom prst="roundRect">
            <a:avLst>
              <a:gd name="adj" fmla="val 21428"/>
            </a:avLst>
          </a:prstGeom>
          <a:solidFill>
            <a:srgbClr val="4AA8FF">
              <a:alpha val="10000"/>
            </a:srgbClr>
          </a:solidFill>
          <a:ln w="12700" cap="flat" cmpd="sng">
            <a:solidFill>
              <a:srgbClr val="4AA8FF">
                <a:alpha val="3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 txBox="1"/>
          <p:nvPr/>
        </p:nvSpPr>
        <p:spPr>
          <a:xfrm>
            <a:off x="1168400" y="5384800"/>
            <a:ext cx="9906000" cy="711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Links: /terrain.html | plot card: /plot_report.html?lat=30.2215&amp;lon=120.1000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Validation &amp; roadmap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 txBox="1"/>
          <p:nvPr/>
        </p:nvSpPr>
        <p:spPr>
          <a:xfrm>
            <a:off x="812800" y="2082800"/>
            <a:ext cx="5588000" cy="4064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Spring frost 357 days: Tmin MAE 1.32C (CI 1.21-1.43) vs 2.08C persistence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1/3/7-day MAE 0.49/0.67/0.91C; POD 0.709 / FAR 0 / CSI 0.709</a:t>
            </a:r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Event backtest 7/7; next: frozen versions + plot sensors + positive/negative field reports</a:t>
            </a:r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90-day field pilot; decision support only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rcRect t="11" b="11"/>
          <a:stretch>
            <a:fillRect/>
          </a:stretch>
        </p:blipFill>
        <p:spPr>
          <a:xfrm>
            <a:off x="6959600" y="1854200"/>
            <a:ext cx="4445000" cy="4102100"/>
          </a:xfrm>
          <a:prstGeom prst="rect">
            <a:avLst/>
          </a:prstGeom>
          <a:noFill/>
          <a:ln w="12700" cap="flat" cmpd="sng">
            <a:solidFill>
              <a:srgbClr val="FFFFFF">
                <a:alpha val="18000"/>
              </a:srgbClr>
            </a:solidFill>
            <a:prstDash val="solid"/>
            <a:round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Run &amp; compliance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812800" y="20828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 txBox="1"/>
          <p:nvPr/>
        </p:nvSpPr>
        <p:spPr>
          <a:xfrm>
            <a:off x="1117600" y="20828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Live: https://teawindow.onrender.com/ ; Static: https://eric2007-sudo.github.io/TeaWindow/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6248400" y="20828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 txBox="1"/>
          <p:nvPr/>
        </p:nvSpPr>
        <p:spPr>
          <a:xfrm>
            <a:off x="6553200" y="20828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Local: uvicorn src.serve:app ; Offline single-page: web/index.html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812800" y="40640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 txBox="1"/>
          <p:nvPr/>
        </p:nvSpPr>
        <p:spPr>
          <a:xfrm>
            <a:off x="1117600" y="40640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Data: Open-Meteo ERA5 history + MET Norway forecast (dual-source), NASA GIBS NDVI, Sentinel-2, DEM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248400" y="40640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 txBox="1"/>
          <p:nvPr/>
        </p:nvSpPr>
        <p:spPr>
          <a:xfrm>
            <a:off x="6553200" y="40640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License: code MIT, data/docs CC BY 4.0; decision support only</a:t>
            </a:r>
            <a:endParaRPr lang="en-US"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5715000" y="1854200"/>
            <a:ext cx="7620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16000" y="2184400"/>
            <a:ext cx="10160000" cy="1905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4AA8FF"/>
                </a:solidFill>
                <a:latin typeface="Montserrat"/>
                <a:ea typeface="Montserrat"/>
                <a:cs typeface="Montserrat"/>
                <a:sym typeface="Montserrat"/>
              </a:rPr>
              <a:t>ONE PLACE</a:t>
            </a:r>
            <a:r>
              <a:rPr lang="en-US" sz="32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 -</a:t>
            </a:r>
            <a:endParaRPr lang="en-US" sz="1100"/>
          </a:p>
          <a:p>
            <a:pPr marL="0" indent="0" algn="ctr">
              <a:lnSpc>
                <a:spcPct val="125000"/>
              </a:lnSpc>
            </a:pPr>
            <a:r>
              <a:rPr lang="en-US" sz="3200" b="1" i="0" u="none" strike="noStrike">
                <a:solidFill>
                  <a:srgbClr val="4AA8FF"/>
                </a:solidFill>
                <a:latin typeface="Montserrat"/>
                <a:ea typeface="Montserrat"/>
                <a:cs typeface="Montserrat"/>
                <a:sym typeface="Montserrat"/>
              </a:rPr>
              <a:t>ONE CLIMATE PROBLEM</a:t>
            </a:r>
            <a:r>
              <a:rPr lang="en-US" sz="32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 -</a:t>
            </a:r>
          </a:p>
          <a:p>
            <a:pPr marL="0" indent="0" algn="ctr">
              <a:lnSpc>
                <a:spcPct val="125000"/>
              </a:lnSpc>
            </a:pPr>
            <a:r>
              <a:rPr lang="en-US" sz="3200" b="1" i="0" u="none" strike="noStrike">
                <a:solidFill>
                  <a:srgbClr val="4AA8FF"/>
                </a:solidFill>
                <a:latin typeface="Montserrat"/>
                <a:ea typeface="Montserrat"/>
                <a:cs typeface="Montserrat"/>
                <a:sym typeface="Montserrat"/>
              </a:rPr>
              <a:t>ONE AI SOLUTION</a:t>
            </a:r>
          </a:p>
        </p:txBody>
      </p:sp>
      <p:sp>
        <p:nvSpPr>
          <p:cNvPr id="4" name="AutoShape 4"/>
          <p:cNvSpPr txBox="1"/>
          <p:nvPr/>
        </p:nvSpPr>
        <p:spPr>
          <a:xfrm>
            <a:off x="1016000" y="4318000"/>
            <a:ext cx="10160000" cy="508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9FB4C6"/>
                </a:solidFill>
                <a:latin typeface="Inter"/>
                <a:ea typeface="Inter"/>
                <a:cs typeface="Inter"/>
                <a:sym typeface="Inter"/>
              </a:rPr>
              <a:t>TeaWindow - bringing AI to real tea gardens</a:t>
            </a:r>
            <a:endParaRPr lang="en-US" sz="1100"/>
          </a:p>
        </p:txBody>
      </p:sp>
      <p:sp>
        <p:nvSpPr>
          <p:cNvPr id="5" name="AutoShape 5"/>
          <p:cNvSpPr txBox="1"/>
          <p:nvPr/>
        </p:nvSpPr>
        <p:spPr>
          <a:xfrm>
            <a:off x="2794000" y="5080000"/>
            <a:ext cx="6604000" cy="1397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ctr">
              <a:lnSpc>
                <a:spcPct val="158333"/>
              </a:lnSpc>
              <a:defRPr/>
            </a:pPr>
            <a:r>
              <a:rPr lang="en-US" sz="1600" b="0" i="0" u="none" strike="noStrike">
                <a:solidFill>
                  <a:srgbClr val="9FB4C6"/>
                </a:solidFill>
                <a:latin typeface="Inter"/>
                <a:ea typeface="Inter"/>
                <a:cs typeface="Inter"/>
                <a:sym typeface="Inter"/>
              </a:rPr>
              <a:t>• Live https://teawindow.onrender.com/</a:t>
            </a:r>
            <a:endParaRPr lang="en-US" sz="1100"/>
          </a:p>
          <a:p>
            <a:pPr marL="0" indent="0" algn="ctr">
              <a:lnSpc>
                <a:spcPct val="158333"/>
              </a:lnSpc>
            </a:pPr>
            <a:r>
              <a:rPr lang="en-US" sz="1600" b="0" i="0" u="none" strike="noStrike">
                <a:solidFill>
                  <a:srgbClr val="9FB4C6"/>
                </a:solidFill>
                <a:latin typeface="Inter"/>
                <a:ea typeface="Inter"/>
                <a:cs typeface="Inter"/>
                <a:sym typeface="Inter"/>
              </a:rPr>
              <a:t>• Static https://eric2007-sudo.github.io/TeaWindow/</a:t>
            </a:r>
          </a:p>
          <a:p>
            <a:pPr marL="0" indent="0" algn="ctr">
              <a:lnSpc>
                <a:spcPct val="158333"/>
              </a:lnSpc>
            </a:pPr>
            <a:r>
              <a:rPr lang="en-US" sz="1600" b="0" i="0" u="none" strike="noStrike">
                <a:solidFill>
                  <a:srgbClr val="9FB4C6"/>
                </a:solidFill>
                <a:latin typeface="Inter"/>
                <a:ea typeface="Inter"/>
                <a:cs typeface="Inter"/>
                <a:sym typeface="Inter"/>
              </a:rPr>
              <a:t>• Repo https://github.com/Eric2007-sudo/TeaWindow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6888" y="6318812"/>
            <a:ext cx="1522412" cy="53918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0_architecture_1plus5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793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79808" cy="6858000"/>
          </a:xfrm>
          <a:prstGeom prst="rect">
            <a:avLst/>
          </a:prstGeom>
          <a:solidFill>
            <a:srgbClr val="0F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58368"/>
            <a:ext cx="64008" cy="777240"/>
          </a:xfrm>
          <a:prstGeom prst="rect">
            <a:avLst/>
          </a:prstGeom>
          <a:solidFill>
            <a:srgbClr val="4A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62179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8EEF3"/>
                </a:solidFill>
                <a:latin typeface="Montserrat"/>
              </a:rPr>
              <a:t>Team &amp; 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81328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E8EEF3"/>
                </a:solidFill>
                <a:latin typeface="Montserrat"/>
              </a:rPr>
              <a:t>Ye Zixuan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9FB4C6"/>
                </a:solidFill>
                <a:latin typeface="Montserrat"/>
              </a:rPr>
              <a:t>叶子玄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0604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ED9E4"/>
                </a:solidFill>
                <a:latin typeface="Inter"/>
              </a:rPr>
              <a:t>Zhejiang University · Computer Science and Technology (BSc, Year 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0040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ED9E4"/>
                </a:solidFill>
                <a:latin typeface="Inter"/>
              </a:rPr>
              <a:t>Role: project lead · algorithms &amp; full-stack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53872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ED9E4"/>
                </a:solidFill>
                <a:latin typeface="Inter"/>
              </a:rPr>
              <a:t>Team: solo (1 person) · age 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877056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ED9E4"/>
                </a:solidFill>
                <a:latin typeface="Inter"/>
              </a:rPr>
              <a:t>Location: Hangzhou, China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15384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ED9E4"/>
                </a:solidFill>
                <a:latin typeface="Inter"/>
              </a:rPr>
              <a:t>Phone: +86 15858238044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553712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ED9E4"/>
                </a:solidFill>
                <a:latin typeface="Inter"/>
              </a:rPr>
              <a:t>Email: 2302372846@qq.com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89204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ED9E4"/>
                </a:solidFill>
                <a:latin typeface="Inter"/>
              </a:rPr>
              <a:t>Track: 01 · Climate-smart tea farming in Meijiawu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20840" y="1481328"/>
            <a:ext cx="4800600" cy="3246120"/>
          </a:xfrm>
          <a:prstGeom prst="rect">
            <a:avLst/>
          </a:prstGeom>
          <a:solidFill>
            <a:srgbClr val="16212B"/>
          </a:solidFill>
          <a:ln w="9525">
            <a:solidFill>
              <a:srgbClr val="2B3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1664208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AA8FF"/>
                </a:solidFill>
                <a:latin typeface="Inter"/>
              </a:rPr>
              <a:t>What I built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8" y="2148840"/>
            <a:ext cx="4343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ED9E4"/>
                </a:solidFill>
                <a:latin typeface="Inter"/>
              </a:rPr>
              <a:t>• Data: ERA5 + MET Norway, Sentinel-2, 30 m DEM downscaling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2971800"/>
            <a:ext cx="4343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ED9E4"/>
                </a:solidFill>
                <a:latin typeface="Inter"/>
              </a:rPr>
              <a:t>• Model: numpy GBDT compound risk; frozen eval set; picking-date MAE 1.8 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3794760"/>
            <a:ext cx="4343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ED9E4"/>
                </a:solidFill>
                <a:latin typeface="Inter"/>
              </a:rPr>
              <a:t>• Product: live demo, terrain risk map, grounded Q&amp;A with the 1+5 gate, deployment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2578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E8EEF3"/>
                </a:solidFill>
                <a:latin typeface="Inter"/>
              </a:rPr>
              <a:t>Turning climate data into an action a tea farmer can take today.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9893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FB4C6"/>
                </a:solidFill>
                <a:latin typeface="Inter"/>
              </a:rPr>
              <a:t>Demo: teawindow.onrender.com | Repo: github.com/Eric2007-sudo/TeaWindow | Stage: prototype / demo available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自定义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1128</Words>
  <Application>Microsoft Office PowerPoint</Application>
  <PresentationFormat>自定义</PresentationFormat>
  <Paragraphs>100</Paragraphs>
  <Slides>12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12</vt:i4>
      </vt:variant>
    </vt:vector>
  </HeadingPairs>
  <TitlesOfParts>
    <vt:vector size="20" baseType="lpstr">
      <vt:lpstr>Inter</vt:lpstr>
      <vt:lpstr>Noto Sans SC</vt:lpstr>
      <vt:lpstr>Arial</vt:lpstr>
      <vt:lpstr>Calibri</vt:lpstr>
      <vt:lpstr>Montserrat</vt:lpstr>
      <vt:lpstr>Office 主题​​</vt:lpstr>
      <vt:lpstr>自定义主题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meifang wu</cp:lastModifiedBy>
  <cp:revision>1</cp:revision>
  <dcterms:modified xsi:type="dcterms:W3CDTF">2026-10-17T15:31:56Z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{"Label":"1","ContentProducer":"001191110102MACQD9K64010000","ProduceID":"7697659476745391119","ReservedCode1":"","ContentPropagator":"","PropagateID":"","ReservedCode2":""}</vt:lpwstr>
  </property>
</Properties>
</file>