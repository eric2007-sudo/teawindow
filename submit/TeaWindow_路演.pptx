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8EEF3"/>
                </a:solidFill>
                <a:latin typeface="Microsoft YaHei"/>
              </a:rPr>
              <a:t>梅坞采候 TeaWindow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9FB4C6"/>
                </a:solidFill>
                <a:latin typeface="Microsoft YaHei"/>
              </a:rPr>
              <a:t>AI4Climate 赛道 01 · 气候智能茶园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9FB4C6"/>
                </a:solidFill>
                <a:latin typeface="Microsoft YaHei"/>
              </a:rPr>
              <a:t>• 面向杭州梅家坞西湖龙井核心产区（30.21°N, 120.10°E）</a:t>
            </a:r>
          </a:p>
          <a:p>
            <a:r>
              <a:rPr sz="1500">
                <a:solidFill>
                  <a:srgbClr val="9FB4C6"/>
                </a:solidFill>
                <a:latin typeface="Microsoft YaHei"/>
              </a:rPr>
              <a:t>• 把「倒春寒 × 高温 × 干旱」变成可执行的地块级判断</a:t>
            </a:r>
          </a:p>
          <a:p>
            <a:r>
              <a:rPr sz="1500">
                <a:solidFill>
                  <a:srgbClr val="9FB4C6"/>
                </a:solidFill>
                <a:latin typeface="Microsoft YaHei"/>
              </a:rPr>
              <a:t>• One Place · One Climate Problem · One AI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EF3"/>
                </a:solidFill>
                <a:latin typeface="Microsoft YaHei"/>
              </a:rPr>
              <a:t>问题与证据：真实且可核验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Microsoft YaHei"/>
              </a:rPr>
              <a:t>• 约 70% 茶园为早芽、抗旱弱的龙井43号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Microsoft YaHei"/>
              </a:rPr>
              <a:t>• 2010 浙江冻害：约 150 万亩、损失约 17 亿元（西湖区近 3 成受冻、推迟约 10 天）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Microsoft YaHei"/>
              </a:rPr>
              <a:t>• 2020/2022 西湖区约 5000 亩高温灼伤；2024 杭州高温 60 天（破纪录）</a:t>
            </a:r>
          </a:p>
        </p:txBody>
      </p:sp>
      <p:pic>
        <p:nvPicPr>
          <p:cNvPr id="6" name="Picture 5" descr="fig_year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EF3"/>
                </a:solidFill>
                <a:latin typeface="Microsoft YaHei"/>
              </a:rPr>
              <a:t>用户与痛点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Microsoft YaHei"/>
              </a:rPr>
              <a:t>• 用户：茶农 / 采茶队 / 合作社 / 茶企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Microsoft YaHei"/>
              </a:rPr>
              <a:t>• 每天三问：今天有风险吗？是什么风险？该采还是该防？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Microsoft YaHei"/>
              </a:rPr>
              <a:t>• 痛点：气象·遥感·土壤·地形信号分散，难以落到地块级行动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Microsoft YaHei"/>
              </a:rPr>
              <a:t>• 边界：决策辅助，需人工复核、以官方预警为准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EF3"/>
                </a:solidFill>
                <a:latin typeface="Microsoft YaHei"/>
              </a:rPr>
              <a:t>方案架构：把信号变成行动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Microsoft YaHei"/>
              </a:rPr>
              <a:t>• 输入：Open-Meteo ERA5 历史 + MET Norway 预报（双源互备）· NDVI · 地形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Microsoft YaHei"/>
              </a:rPr>
              <a:t>• 指标引擎：积温/霜冻/倒春寒/高温/干旱/连阴雨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Microsoft YaHei"/>
              </a:rPr>
              <a:t>• 模型：numpy GBDT 复合风险 → 透明规则采摘适宜度与最佳窗口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Microsoft YaHei"/>
              </a:rPr>
              <a:t>• 输出：茶农白话行动建议（离线/在线双形态）</a:t>
            </a:r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1685979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EF3"/>
                </a:solidFill>
                <a:latin typeface="Microsoft YaHei"/>
              </a:rPr>
              <a:t>AI 为什么必要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Microsoft YaHei"/>
              </a:rPr>
              <a:t>• 单阈值（如仅 Tmin）无法刻画「霜冻×高温×干旱×物候」交互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Microsoft YaHei"/>
              </a:rPr>
              <a:t>• 留出年 2024–2025：AUC 0.998 / F1 0.85 vs 单阈值 0.78 / 0.50（弱标签复现）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Microsoft YaHei"/>
              </a:rPr>
              <a:t>• 集合预报给不确定性区间；地形 + NDVI 做地块级解释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Microsoft YaHei"/>
              </a:rPr>
              <a:t>• 明确：弱标签 ≠ 田间精度</a:t>
            </a:r>
          </a:p>
        </p:txBody>
      </p:sp>
      <p:pic>
        <p:nvPicPr>
          <p:cNvPr id="6" name="Picture 5" descr="fig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704088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EF3"/>
                </a:solidFill>
                <a:latin typeface="Microsoft YaHei"/>
              </a:rPr>
              <a:t>从预测到决策（新颖点）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Microsoft YaHei"/>
              </a:rPr>
              <a:t>• 采摘调度排班 + 决策论期望效用（抢采 / 等待 / 防护）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Microsoft YaHei"/>
              </a:rPr>
              <a:t>• 价值闭环：预期损失 / 保费；天气指数保险（地块级定价）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Microsoft YaHei"/>
              </a:rPr>
              <a:t>• 地块级霜冻易感（地形/坡向）</a:t>
            </a:r>
          </a:p>
        </p:txBody>
      </p:sp>
      <p:pic>
        <p:nvPicPr>
          <p:cNvPr id="6" name="Picture 5" descr="fig_insur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80467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EF3"/>
                </a:solidFill>
                <a:latin typeface="Microsoft YaHei"/>
              </a:rPr>
              <a:t>在线演示 + 自研问答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Microsoft YaHei"/>
              </a:rPr>
              <a:t>• 实时 https://teawindow.onrender.com/ ；静态 https://eric2007-sudo.github.io/TeaWindow/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Microsoft YaHei"/>
              </a:rPr>
              <a:t>• 自研问答：ONNX 意图 + 事实接地 + 来源链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Microsoft YaHei"/>
              </a:rPr>
              <a:t>• 多维复合提问分项作答 · JSON/表格跨轮一致 · 任务引用与记忆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Microsoft YaHei"/>
              </a:rPr>
              <a:t>• 运行闭环：3h 刷新 + 漂移检测 + 过期降级 + 告警（钉钉加签真实送达）</a:t>
            </a:r>
          </a:p>
        </p:txBody>
      </p:sp>
      <p:pic>
        <p:nvPicPr>
          <p:cNvPr id="6" name="Picture 5" descr="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6437376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EEF3"/>
                </a:solidFill>
                <a:latin typeface="Microsoft YaHei"/>
              </a:rPr>
              <a:t>验证与路线图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Microsoft YaHei"/>
              </a:rPr>
              <a:t>• 春霜 357 天：Tmin MAE 1.32℃(CI 1.21–1.43) vs 持续法 2.08℃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Microsoft YaHei"/>
              </a:rPr>
              <a:t>• 1/3/7 天 MAE 0.49/0.67/0.91℃；POD 0.709 / FAR 0 / CSI 0.709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Microsoft YaHei"/>
              </a:rPr>
              <a:t>• 事件回测 7/7；下一步：冻结版本 + 地块级传感器 + 正/负田间记录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8EEF3"/>
                </a:solidFill>
                <a:latin typeface="Microsoft YaHei"/>
              </a:rPr>
              <a:t>• 90 天真实场景验证计划；决策辅助，不替代官方预警</a:t>
            </a:r>
          </a:p>
        </p:txBody>
      </p:sp>
      <p:pic>
        <p:nvPicPr>
          <p:cNvPr id="6" name="Picture 5" descr="fig_back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35864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8EEF3"/>
                </a:solidFill>
                <a:latin typeface="Microsoft YaHei"/>
              </a:rPr>
              <a:t>ONE PLACE · ONE CLIMATE PROBLEM · ONE AI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9FB4C6"/>
                </a:solidFill>
                <a:latin typeface="Microsoft YaHei"/>
              </a:rPr>
              <a:t>梅坞采候 TeaWindow ｜ 让 AI 走进真实茶园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9FB4C6"/>
                </a:solidFill>
                <a:latin typeface="Microsoft YaHei"/>
              </a:rPr>
              <a:t>• 在线 https://teawindow.onrender.com/</a:t>
            </a:r>
          </a:p>
          <a:p>
            <a:r>
              <a:rPr sz="1500">
                <a:solidFill>
                  <a:srgbClr val="9FB4C6"/>
                </a:solidFill>
                <a:latin typeface="Microsoft YaHei"/>
              </a:rPr>
              <a:t>• 静态 https://eric2007-sudo.github.io/TeaWindow/</a:t>
            </a:r>
          </a:p>
          <a:p>
            <a:r>
              <a:rPr sz="1500">
                <a:solidFill>
                  <a:srgbClr val="9FB4C6"/>
                </a:solidFill>
                <a:latin typeface="Microsoft YaHei"/>
              </a:rPr>
              <a:t>• 仓库 https://github.com/Eric2007-sudo/TeaWindow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